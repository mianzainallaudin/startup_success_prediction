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269" r:id="rId3"/>
    <p:sldId id="273" r:id="rId4"/>
    <p:sldId id="257" r:id="rId5"/>
    <p:sldId id="260" r:id="rId6"/>
    <p:sldId id="276" r:id="rId7"/>
    <p:sldId id="277" r:id="rId8"/>
    <p:sldId id="280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1" r:id="rId22"/>
    <p:sldId id="300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265" r:id="rId43"/>
    <p:sldId id="282" r:id="rId44"/>
    <p:sldId id="284" r:id="rId45"/>
    <p:sldId id="285" r:id="rId46"/>
    <p:sldId id="286" r:id="rId47"/>
    <p:sldId id="283" r:id="rId48"/>
    <p:sldId id="267" r:id="rId49"/>
    <p:sldId id="287" r:id="rId50"/>
    <p:sldId id="268" r:id="rId5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4C8B0-D272-1307-0984-C3A1774E597D}" v="143" dt="2026-04-16T18:10:16.801"/>
    <p1510:client id="{B86D39AC-016F-48A8-9A9D-7142269CBF34}" v="3883" dt="2026-04-16T18:13:42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b6450df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b6450df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b6450df1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b6450df1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6DCFE18-706B-D23A-675F-0C393DE3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b6450df13_0_20:notes">
            <a:extLst>
              <a:ext uri="{FF2B5EF4-FFF2-40B4-BE49-F238E27FC236}">
                <a16:creationId xmlns:a16="http://schemas.microsoft.com/office/drawing/2014/main" id="{E9A6191E-1935-FAAD-CAE5-C90674048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b6450df13_0_20:notes">
            <a:extLst>
              <a:ext uri="{FF2B5EF4-FFF2-40B4-BE49-F238E27FC236}">
                <a16:creationId xmlns:a16="http://schemas.microsoft.com/office/drawing/2014/main" id="{E6B7CF98-EE23-BB8B-B51B-FFA912978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71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9119C36-0F2C-D1D7-E028-D332352D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b6450df13_0_20:notes">
            <a:extLst>
              <a:ext uri="{FF2B5EF4-FFF2-40B4-BE49-F238E27FC236}">
                <a16:creationId xmlns:a16="http://schemas.microsoft.com/office/drawing/2014/main" id="{A38C50FE-6E41-CB0D-5287-9117D3575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b6450df13_0_20:notes">
            <a:extLst>
              <a:ext uri="{FF2B5EF4-FFF2-40B4-BE49-F238E27FC236}">
                <a16:creationId xmlns:a16="http://schemas.microsoft.com/office/drawing/2014/main" id="{86291C32-C5B9-6261-745E-EBEB61369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997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DBA19F1-19F7-8D6C-4E9E-E26C0A16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C04BDA69-0BB6-50EB-8480-EEF928B31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2D10AA50-82A8-03D9-D64D-8C8FD0051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468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BCB9D86-4A2D-A458-2304-7D5569D3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F064427B-ED63-BD8D-57C9-1A1F20E91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E9B6EBE7-2AF3-EF4D-2DD3-83DDAFF66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079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5A1B022-261D-168B-3BFA-AD7F992C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62170442-CC3B-AA48-942C-1DAEC5FDA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AAED8C6E-60ED-E700-375D-F8FB5DC663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52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667DE48-5674-E054-E555-3AF3845A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26813E67-761A-03C6-2AB9-7FD0D1372D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C13355C2-0589-1039-0450-D2CAB7C2EA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64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9B487FC-A65D-8B41-DA29-6F0921CBA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65B22B22-7108-3847-4621-26EBAC5A4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A3612057-4C43-F24F-385D-099195BBA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2860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57FD7A0-F234-6C22-CA0C-EC17BFA9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8BF63228-7EEF-A001-CFD5-1DDB4680E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68EFFDD8-2127-05AC-35C1-150D135048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066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4829A0D-1CA9-6F07-2B42-A74EA7CAA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E524E4D8-220C-F63D-E45F-6D0B7B4288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F6B582BE-E826-00F0-883A-B72F4741A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284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6AA6A5B-1B2F-2A09-DF91-2A820F65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0B6B2778-7CB0-96CD-9374-1A030B9B5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0DD9EA2A-414B-0EA4-E8EE-4AE4ADC0B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5673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93FB32D-CB01-F22C-0F31-1CEAE498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A0989EDA-C2A8-1568-E746-F1672D2A1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E29B2D66-BA98-BFBD-C6E3-46D52BA78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455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68AAD99-A7D7-C524-6F28-AEBCD6B1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2398857C-E7CE-DB1A-1FB8-9790364F6B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3FAB6210-E7FE-96CB-ACB9-526C4F212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562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4170DDE-2FB9-E9E3-0E03-D83159633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66A3B20F-711D-9BBF-FFCA-98CE142A19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741A407D-8CA1-489A-CC2F-9DC5E4C5F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184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391A8BE-8BE1-1300-61C5-7BBB7590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641175AB-25F5-CA44-5224-F881BC7BB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FDAD46A5-58C0-6CF9-B902-CD6E7F301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30480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412B24C-BD8D-117C-4168-3920EBBE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CFE69BB4-EE43-D6AA-F42D-28AD918626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5E8C98A9-D299-53F7-FA70-BE9D0C4F1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3663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89160AA-3E53-CA27-AD74-A468347A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28825E1E-6593-2A7D-8836-0D28825DF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4B509DE9-C4DC-2CB7-00EB-6D0B0C17D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323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EDD47C2-A0C7-7486-B832-2BDF74C2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C9939117-0A07-F99F-05CC-132E47681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1B5520EC-E06F-9B7D-75FC-DB23CE9BD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587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742DFBF5-5504-DB76-BF19-B1526C5F2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B6D77AAD-9B92-9BC6-AC58-63E1B4DF1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50006B92-7BE4-97A5-4C50-C99C0CB2D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05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2D8EBB6-E014-F169-C35C-B4237EA7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FB15C8CE-00BF-4AEF-C914-366A1475C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1C908967-C523-A7C8-43D8-FE02D46F2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2974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0B05180-D010-099A-4284-EC3BF45DE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5C36EBBF-255D-9AF8-23F8-56492029A5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B6F959FD-818A-51BD-88D1-1579E4BC3F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7975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6929247-2507-9C16-A9B1-2BB88A88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F231225F-8D35-35DA-6A3E-40F0E89E17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B4390CD7-CFD7-3926-0A55-BEA216017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544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036E65E-B5A1-75AA-DD95-8AF95355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61CCB2A7-31D0-1E97-E46F-7919F97C6C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C23282D7-1F9E-A582-516A-46DF1A06B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71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419C160A-932A-806A-7362-D4B64AF6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4455E847-3782-E83A-6739-7191499924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705FA7C1-A264-0E96-0A53-C85F622E3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92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07EEEA3-B248-6649-6036-AD24DC79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DC6E0946-C2F5-3E2F-5BEE-A11432AB5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24403FC2-1F70-10E2-3403-6CF58DB59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13205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029CBE02-DF1B-4430-2DF6-83DBD40C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F5EE17F4-22D2-8FA9-D474-337594F68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CAEEAC22-DEBD-1DEA-243E-FCAED49C8B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10406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662BA73-05F6-4BDE-4655-8726D39F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8F500FC5-2C5A-E19E-EE2A-97EE5AF2B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B649CA25-0D00-97DD-B4BE-A88C6EE46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167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8CEA3B6-3DFB-F936-099B-CB2D1940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1E31E081-9953-CF17-4ECC-9AA20F4555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986368CE-96BF-867A-4FEA-FFB5410FA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8906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921C525-8E41-798F-9D21-AD7AF9022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8C52E547-DCEE-36C1-75EC-A2016D548C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01B4F6AA-FA09-65F1-ADB7-6D793637D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3029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C165383-DA6F-7B23-2B98-ABB09D5C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B006F5BC-AA99-8360-B036-8615207AB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8E6CF6F5-CFF4-7031-D5B5-68A5F990F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051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F21CD22-6576-2311-CB1D-40893928E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BEBE2C98-7022-11FF-2447-433159FF6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FEA91BF5-83A2-D9F1-5656-382A7FE69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6153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33BED58-3479-8467-33E7-470F1AB1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756A83C3-C404-A7B4-0EE6-BFD98CF05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2CD41292-2F42-4EDA-A4DE-FD42B993C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7240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3476DEF-D51E-7ECF-8FBA-EF37B6CB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667E0F3C-E073-7333-DEBA-7728653CE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8058D5FC-2A9C-7A0A-283F-6FA1BA5A9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5062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198D9BE-C1BD-8A80-9396-EFF650F3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4EFE0C64-D71A-A2D0-A1A8-3469E1630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99A53416-79FB-00FF-C40C-F49A25715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3723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C99E8D93-087D-0CBD-C576-219B50E8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4988430A-298E-FBB6-1FFB-BDE8539E0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540C4992-C2F6-668C-1FA9-20E1C972EF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3194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D9DCE25-3E99-2C4C-BCF2-5E92DF36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786EDAE1-CF18-3EB3-09E7-51DE09B9D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79129CE2-D478-302C-2EE8-AAAE02A89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8403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46DAEBE-CF37-9C31-6FB0-98490D09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6450df13_0_25:notes">
            <a:extLst>
              <a:ext uri="{FF2B5EF4-FFF2-40B4-BE49-F238E27FC236}">
                <a16:creationId xmlns:a16="http://schemas.microsoft.com/office/drawing/2014/main" id="{0E1E8A6F-95BD-3B63-C9AA-1B2C0BCBAD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b6450df13_0_25:notes">
            <a:extLst>
              <a:ext uri="{FF2B5EF4-FFF2-40B4-BE49-F238E27FC236}">
                <a16:creationId xmlns:a16="http://schemas.microsoft.com/office/drawing/2014/main" id="{16116A32-2AD5-3983-3ABB-7907F5FDB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92623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6450df1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b6450df1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1B522941-C1D7-872C-F142-F6EC094D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6450df13_0_30:notes">
            <a:extLst>
              <a:ext uri="{FF2B5EF4-FFF2-40B4-BE49-F238E27FC236}">
                <a16:creationId xmlns:a16="http://schemas.microsoft.com/office/drawing/2014/main" id="{62B8EA48-9356-CB98-9EA3-502E1BEB0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b6450df13_0_30:notes">
            <a:extLst>
              <a:ext uri="{FF2B5EF4-FFF2-40B4-BE49-F238E27FC236}">
                <a16:creationId xmlns:a16="http://schemas.microsoft.com/office/drawing/2014/main" id="{B285AFA1-AECF-D28E-43F3-091D281389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19233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53DA73F1-10EA-A215-FB05-5810609D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6450df13_0_30:notes">
            <a:extLst>
              <a:ext uri="{FF2B5EF4-FFF2-40B4-BE49-F238E27FC236}">
                <a16:creationId xmlns:a16="http://schemas.microsoft.com/office/drawing/2014/main" id="{BE28CC56-7E7E-B031-FFC6-1C93B23BE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b6450df13_0_30:notes">
            <a:extLst>
              <a:ext uri="{FF2B5EF4-FFF2-40B4-BE49-F238E27FC236}">
                <a16:creationId xmlns:a16="http://schemas.microsoft.com/office/drawing/2014/main" id="{A1C9CE3E-C1E2-761B-6E4A-E5233AB0C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7271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B7A7EF8-1AA5-9961-60DC-FB542E9FB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6450df13_0_30:notes">
            <a:extLst>
              <a:ext uri="{FF2B5EF4-FFF2-40B4-BE49-F238E27FC236}">
                <a16:creationId xmlns:a16="http://schemas.microsoft.com/office/drawing/2014/main" id="{03C41908-CF3C-8508-F8C6-FED47DFB1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b6450df13_0_30:notes">
            <a:extLst>
              <a:ext uri="{FF2B5EF4-FFF2-40B4-BE49-F238E27FC236}">
                <a16:creationId xmlns:a16="http://schemas.microsoft.com/office/drawing/2014/main" id="{8AD1ABEF-145F-056E-5809-17E989BEA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1646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DB55FFC8-E58F-3FF6-6773-896D3788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6450df13_0_30:notes">
            <a:extLst>
              <a:ext uri="{FF2B5EF4-FFF2-40B4-BE49-F238E27FC236}">
                <a16:creationId xmlns:a16="http://schemas.microsoft.com/office/drawing/2014/main" id="{4D741494-7485-AF8E-A047-AAF5CF9DF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b6450df13_0_30:notes">
            <a:extLst>
              <a:ext uri="{FF2B5EF4-FFF2-40B4-BE49-F238E27FC236}">
                <a16:creationId xmlns:a16="http://schemas.microsoft.com/office/drawing/2014/main" id="{F21A0CB6-7F03-3282-99C5-E919AB5B88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0929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71071BF0-96FB-57BE-66A8-CD7572287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b6450df13_0_30:notes">
            <a:extLst>
              <a:ext uri="{FF2B5EF4-FFF2-40B4-BE49-F238E27FC236}">
                <a16:creationId xmlns:a16="http://schemas.microsoft.com/office/drawing/2014/main" id="{489BE5B0-3370-9E86-8FD3-8D082DE47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b6450df13_0_30:notes">
            <a:extLst>
              <a:ext uri="{FF2B5EF4-FFF2-40B4-BE49-F238E27FC236}">
                <a16:creationId xmlns:a16="http://schemas.microsoft.com/office/drawing/2014/main" id="{F825693E-54BF-FB47-DEE3-F9525E0EE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8898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6450df13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6450df13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AE6E5A0E-986D-7C0A-176C-072C7938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6450df13_0_40:notes">
            <a:extLst>
              <a:ext uri="{FF2B5EF4-FFF2-40B4-BE49-F238E27FC236}">
                <a16:creationId xmlns:a16="http://schemas.microsoft.com/office/drawing/2014/main" id="{F7689707-24F3-4A9A-56BB-7E31F284F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b6450df13_0_40:notes">
            <a:extLst>
              <a:ext uri="{FF2B5EF4-FFF2-40B4-BE49-F238E27FC236}">
                <a16:creationId xmlns:a16="http://schemas.microsoft.com/office/drawing/2014/main" id="{6C8F7CBB-01D4-CC74-5C8B-D223AC0E6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46636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b6450df1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b6450df1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4139-53DD-66FC-A53F-5A2B822A6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B0DD9-C5DD-269B-C0A0-6E4DE6B1F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21022-9677-AC44-2B0D-D9958FEE4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442D4-59C5-F56C-38E6-B5C4D82C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0DC3E-083E-C539-304E-FAA19726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486284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9E42-BAB5-5EC8-D542-B25C16EC8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BCA63-9A9E-DAD1-33E6-D84F53CE7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2A3CC-48DB-7B48-B5B5-65997D6E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1CFD4-95E2-DC57-CE61-29F454F3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1204-FC56-A5E1-9544-89BEC156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1668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F820-2B4F-CFBB-9CD3-C02ACED34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DDDC5-AB3B-DD8F-AD37-CD14F6BBD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0A45-F806-D5E2-875D-8357838A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B9454-0754-1178-EEBD-9F61AD29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D6534-1A54-57A8-57A9-E0C62104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969324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08AA-B4AC-E962-A1A4-9E1D3DD8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504B-82A5-0EBF-F8DE-EBB4DECB0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6D119-B601-3311-5000-F9FD5A718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8FEFA-D8F3-24F7-1913-4F1FEA10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7F490-DD7E-6A9A-4C2D-0E78989A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8A4D1-A5C1-1797-7730-DE62EA6F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438272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FAAA-FECC-091D-48D7-63C17C8F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EC541-2DDF-24CB-D82B-350076167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A34ED-4C2E-C8BE-47D7-3934B863E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C0651-86E8-6B27-335D-86291E9DA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7B47B-9B73-2BBF-2EBC-AE8E837BA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91068-EF7E-336F-88B2-3876555E1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BE6FA-784B-697E-7000-9AADEA4F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6EBAEE-30BE-C5AF-C0C7-8AD9347C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928056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7571-1FC0-8954-B293-0D09BB18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A4DCE-101B-F8B8-289F-65D3F33B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88C53-6C75-464C-36B6-79E62767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CDFD7-36CC-2BFA-4C3C-94F875FF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425799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326CF8-2898-D440-2BBF-98B5EE675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2E6F0-7FBE-86DE-4A8C-ABE2AC0E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38221-51CD-E524-368E-06F02B67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3703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5284-780C-E67E-0C70-8E2FF939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FD746-DC41-9D8E-5147-85FDE8190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AD47C-9920-3495-F669-FA8671E76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DA05F-3D43-D70C-F02E-855DB2AE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5386B-A01C-3B9F-4B62-A78D8C19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EA354-24A0-E3A2-1D10-CC1F1F84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71067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0C42-32ED-3387-4494-84E6E8F6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B17D0-01ED-40AA-4CCC-BE0956647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F62AC-FD61-59E7-8BB0-AB4449F06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5BEDE-7502-E0AD-7969-FCF78EDC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C2054-425B-F084-C42A-C3B6A11B4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886E7-58AE-01F0-A41E-193B1660D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69735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C1AB-3C70-028E-FA89-31C42B3A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1D433-C5D8-0E3B-BBA7-5E9C2D86F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31690-7AE5-B061-90CB-29948E98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CA6BC-B86A-2BBA-43A1-7F1EC961C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C2F25-2A77-461D-7F6C-1FB89362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16864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8A82F-02C9-75BC-BA82-D28C77241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40902-2E8A-854B-4EDC-49A158F23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9C648-E68C-6560-D824-610F9D85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71C4F-3E3F-93BF-D99A-9D004185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070B1-0DFA-CA84-7257-42D577D1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1838668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173182"/>
            <a:ext cx="8520600" cy="8445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018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A3825-EFF0-0B1F-B6C7-81EEDC40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16EEB-9C7C-E452-3E73-801EC785F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FDA7A-AA17-B266-2811-0EB213DD5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E7F77-4480-41BC-B090-1A3BF9B25BB3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AB5D-485A-C07D-A49E-75E756A4A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&lt;Project Title&gt;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2EDDA-8D90-BF34-7F44-E2EA41857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4088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61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/>
              <a:t>Startup Success Prediction</a:t>
            </a:r>
            <a:endParaRPr sz="6000" b="1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86596" y="2701528"/>
            <a:ext cx="8044448" cy="14764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algn="l">
              <a:spcBef>
                <a:spcPts val="0"/>
              </a:spcBef>
            </a:pPr>
            <a:r>
              <a:rPr lang="en-US" dirty="0"/>
              <a:t>Isbah Arif	-	23L-3014	-	task assignment</a:t>
            </a:r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r>
              <a:rPr lang="en-US" dirty="0"/>
              <a:t>Zain Allaudin 	-	23L-3036 	-	task assignment</a:t>
            </a:r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r>
              <a:rPr lang="en-US" dirty="0"/>
              <a:t>Mishaal Rafique  -	23L-3044 	-	task assignment</a:t>
            </a:r>
          </a:p>
          <a:p>
            <a:pPr algn="l">
              <a:spcBef>
                <a:spcPts val="0"/>
              </a:spcBef>
            </a:pPr>
            <a:endParaRPr lang="en-US" dirty="0"/>
          </a:p>
          <a:p>
            <a:pPr algn="l">
              <a:spcBef>
                <a:spcPts val="0"/>
              </a:spcBef>
            </a:pPr>
            <a:r>
              <a:rPr lang="en-US" dirty="0"/>
              <a:t>Eshal Shahid 	-	23L-3086 	-	task assignment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5328" y="0"/>
            <a:ext cx="1278672" cy="13232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DD32D6-F5F7-49CA-A746-AA4397213324}"/>
              </a:ext>
            </a:extLst>
          </p:cNvPr>
          <p:cNvSpPr txBox="1"/>
          <p:nvPr/>
        </p:nvSpPr>
        <p:spPr>
          <a:xfrm>
            <a:off x="817757" y="4398925"/>
            <a:ext cx="72705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/>
              <a:t>National University of Computer and Emerging Sciences,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8E34-E5DD-0DC2-CA7E-42FE3726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3B802-8F68-38F7-3EDE-6FE5CBCFE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Startup success (operating/acquired/closed) is hard to predict due to factors like funding, market, and geography. </a:t>
            </a:r>
          </a:p>
          <a:p>
            <a:r>
              <a:rPr lang="en-GB" dirty="0"/>
              <a:t>Dataset has missing, imbalanced, and skewed data, making </a:t>
            </a:r>
            <a:r>
              <a:rPr lang="en-GB" dirty="0" err="1"/>
              <a:t>modeling</a:t>
            </a:r>
            <a:r>
              <a:rPr lang="en-GB" dirty="0"/>
              <a:t> difficult.</a:t>
            </a:r>
          </a:p>
          <a:p>
            <a:r>
              <a:rPr lang="en-GB" dirty="0"/>
              <a:t>Without preprocessing, models give low performance (weak predictions).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93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4465C-B692-BE4C-34A1-B99C2080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Dataset Title with website link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FD5BC-B12E-B045-FA81-CF04EF891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</p:spPr>
        <p:txBody>
          <a:bodyPr>
            <a:normAutofit fontScale="70000" lnSpcReduction="20000"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GB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596900" lvl="1" indent="0">
              <a:buNone/>
            </a:pPr>
            <a:endParaRPr lang="en-US" dirty="0"/>
          </a:p>
          <a:p>
            <a:pPr marL="596900" lvl="1" indent="0">
              <a:buNone/>
            </a:pPr>
            <a:r>
              <a:rPr lang="en-GB" sz="4000" dirty="0"/>
              <a:t>https://www.kaggle.com/datasets/manishkc06/startup-success-prediction</a:t>
            </a:r>
            <a:endParaRPr lang="en" sz="4000" dirty="0"/>
          </a:p>
          <a:p>
            <a:pPr marL="11430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08195-DC47-7250-E086-2DC777F2A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5748"/>
            <a:ext cx="8520600" cy="270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6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Dataset Title with website link </a:t>
            </a:r>
            <a:endParaRPr b="1" dirty="0"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678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Dataset Description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 of records: </a:t>
            </a:r>
            <a:r>
              <a:rPr lang="en-US" u="sng" dirty="0"/>
              <a:t>______923_________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 of Attributes: </a:t>
            </a:r>
            <a:r>
              <a:rPr lang="en-US" u="sng" dirty="0"/>
              <a:t>_____  49_______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Among all mention important Attributes: _____</a:t>
            </a:r>
            <a:r>
              <a:rPr lang="en-GB" dirty="0" err="1"/>
              <a:t>funding_total_usd</a:t>
            </a:r>
            <a:r>
              <a:rPr lang="en-GB" dirty="0"/>
              <a:t>, funding rounds (A–H), </a:t>
            </a:r>
            <a:r>
              <a:rPr lang="en-GB" dirty="0" err="1"/>
              <a:t>country_code</a:t>
            </a:r>
            <a:r>
              <a:rPr lang="en-GB" dirty="0"/>
              <a:t>, market, </a:t>
            </a:r>
            <a:r>
              <a:rPr lang="en-GB" dirty="0" err="1"/>
              <a:t>founded_at</a:t>
            </a:r>
            <a:r>
              <a:rPr lang="en-GB" dirty="0"/>
              <a:t>, </a:t>
            </a:r>
            <a:r>
              <a:rPr lang="en-GB" dirty="0" err="1"/>
              <a:t>first_funding_at</a:t>
            </a:r>
            <a:r>
              <a:rPr lang="en-GB" dirty="0"/>
              <a:t>, </a:t>
            </a:r>
            <a:r>
              <a:rPr lang="en-GB" dirty="0" err="1"/>
              <a:t>last_funding_at</a:t>
            </a:r>
            <a:r>
              <a:rPr lang="en-GB" dirty="0"/>
              <a:t>, status (target)</a:t>
            </a:r>
            <a:r>
              <a:rPr lang="en-US" dirty="0"/>
              <a:t>______ </a:t>
            </a:r>
          </a:p>
          <a:p>
            <a:endParaRPr dirty="0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Reason of selection </a:t>
            </a:r>
            <a:endParaRPr b="1"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935952"/>
            <a:ext cx="8520600" cy="40343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chemeClr val="dk1"/>
              </a:buClr>
            </a:pPr>
            <a:r>
              <a:rPr lang="en-GB" dirty="0"/>
              <a:t>Startup success prediction is important for real-world decisions by investors and entrepreneurs.</a:t>
            </a:r>
          </a:p>
          <a:p>
            <a:pPr>
              <a:buClr>
                <a:schemeClr val="dk1"/>
              </a:buClr>
            </a:pPr>
            <a:r>
              <a:rPr lang="en-GB" dirty="0"/>
              <a:t>The dataset includes key features like funding, market, country, and dates.</a:t>
            </a:r>
          </a:p>
          <a:p>
            <a:pPr>
              <a:buClr>
                <a:schemeClr val="dk1"/>
              </a:buClr>
            </a:pPr>
            <a:r>
              <a:rPr lang="en-GB" dirty="0"/>
              <a:t>Contains real data issues (imbalance, missing, skewed) suitable for preprocessing analysis. </a:t>
            </a:r>
            <a:endParaRPr dirty="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8">
          <a:extLst>
            <a:ext uri="{FF2B5EF4-FFF2-40B4-BE49-F238E27FC236}">
              <a16:creationId xmlns:a16="http://schemas.microsoft.com/office/drawing/2014/main" id="{1DF65C72-20F5-2F63-43D5-5BDB651D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>
            <a:extLst>
              <a:ext uri="{FF2B5EF4-FFF2-40B4-BE49-F238E27FC236}">
                <a16:creationId xmlns:a16="http://schemas.microsoft.com/office/drawing/2014/main" id="{295C3FE5-2DA9-BDA6-45A8-E8DD39E98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592" y="173182"/>
            <a:ext cx="8887968" cy="8445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Exahustive List of Preprocessing techniques </a:t>
            </a:r>
            <a:endParaRPr b="1" dirty="0"/>
          </a:p>
        </p:txBody>
      </p:sp>
      <p:pic>
        <p:nvPicPr>
          <p:cNvPr id="91" name="Google Shape;91;p18">
            <a:extLst>
              <a:ext uri="{FF2B5EF4-FFF2-40B4-BE49-F238E27FC236}">
                <a16:creationId xmlns:a16="http://schemas.microsoft.com/office/drawing/2014/main" id="{8FFD92BE-5A70-3360-C815-4BDEA861D4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3C1D88-606B-C8DB-ED81-7DFCF34C5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84717"/>
              </p:ext>
            </p:extLst>
          </p:nvPr>
        </p:nvGraphicFramePr>
        <p:xfrm>
          <a:off x="463137" y="1017725"/>
          <a:ext cx="8241475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5124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4116351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 Studies and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Technique Not Studies and Applied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0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dirty="0">
                          <a:solidFill>
                            <a:srgbClr val="FF0000"/>
                          </a:solidFill>
                        </a:rPr>
                        <a:t>Missing Values Handling</a:t>
                      </a:r>
                      <a:endParaRPr lang="en-GB" sz="135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Log Transformation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3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Duplicate Removal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Power Transformation (Yeo-Johnson)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4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Inconsistent Data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Frequency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12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Outlier Removal (IQR, Z-score)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Target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53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Feature Scaling (Min-Max, Z-score)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Date Feature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34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One-Hot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Feature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7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Correlation-Based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SMOTE Oversampling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6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Chi-Square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Random </a:t>
                      </a:r>
                      <a:r>
                        <a:rPr lang="en-GB" sz="135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Undersampling</a:t>
                      </a:r>
                      <a:endParaRPr lang="en-GB" sz="135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3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PCA</a:t>
                      </a:r>
                      <a:endParaRPr lang="en-GB" sz="135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TF-IDF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92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373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88">
          <a:extLst>
            <a:ext uri="{FF2B5EF4-FFF2-40B4-BE49-F238E27FC236}">
              <a16:creationId xmlns:a16="http://schemas.microsoft.com/office/drawing/2014/main" id="{E755D036-9C43-7DA3-4653-5DF0A63F7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>
            <a:extLst>
              <a:ext uri="{FF2B5EF4-FFF2-40B4-BE49-F238E27FC236}">
                <a16:creationId xmlns:a16="http://schemas.microsoft.com/office/drawing/2014/main" id="{3B932B77-E266-723B-8FEB-AEAF9CCBB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592" y="173182"/>
            <a:ext cx="8887968" cy="8445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Exahustive List of Preprocessing techniques </a:t>
            </a:r>
            <a:endParaRPr b="1" dirty="0"/>
          </a:p>
        </p:txBody>
      </p:sp>
      <p:pic>
        <p:nvPicPr>
          <p:cNvPr id="91" name="Google Shape;91;p18">
            <a:extLst>
              <a:ext uri="{FF2B5EF4-FFF2-40B4-BE49-F238E27FC236}">
                <a16:creationId xmlns:a16="http://schemas.microsoft.com/office/drawing/2014/main" id="{7E0768DE-130C-0F84-B0C0-424B612074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53C107-E974-3556-0A3C-75C57034A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534597"/>
              </p:ext>
            </p:extLst>
          </p:nvPr>
        </p:nvGraphicFramePr>
        <p:xfrm>
          <a:off x="463137" y="1017725"/>
          <a:ext cx="82414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5124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4116351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Technique Studies and Applied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Technique Not Studies and Applied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70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Sampling (Random, Stratified)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Label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3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Discretisation (Binning)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RFE Feature Selection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4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GB" sz="135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Apriori</a:t>
                      </a:r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12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GB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FP-Growth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53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5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Noise Smoothing</a:t>
                      </a:r>
                      <a:endParaRPr lang="en-GB" sz="135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807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689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BBF5C28-61DD-C611-6932-8CBCF68FD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55D9A10C-537A-92A8-07ED-C3CECF857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Row Deletion</a:t>
            </a:r>
            <a:endParaRPr b="1" dirty="0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A60CCC04-C82D-0276-FFCA-5BC4776623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b="1" dirty="0"/>
              <a:t>Definition:</a:t>
            </a:r>
            <a:r>
              <a:rPr lang="en" dirty="0"/>
              <a:t> </a:t>
            </a:r>
            <a:r>
              <a:rPr lang="en-GB" dirty="0"/>
              <a:t>Remove all rows that contain missing values.</a:t>
            </a:r>
            <a:endParaRPr lang="en" dirty="0"/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A0DD42E7-6993-3A2F-3886-0BCDE5CA64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7691E78-5893-DBDD-C4C4-223681F54A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52" t="-1379"/>
          <a:stretch>
            <a:fillRect/>
          </a:stretch>
        </p:blipFill>
        <p:spPr>
          <a:xfrm>
            <a:off x="2412546" y="2233137"/>
            <a:ext cx="5802559" cy="1202703"/>
          </a:xfrm>
          <a:prstGeom prst="rect">
            <a:avLst/>
          </a:prstGeom>
        </p:spPr>
      </p:pic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6785510-9C47-0D25-55F2-8878E2C43E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10" t="-1495" r="-810" b="-1537"/>
          <a:stretch>
            <a:fillRect/>
          </a:stretch>
        </p:blipFill>
        <p:spPr>
          <a:xfrm>
            <a:off x="2404382" y="3572745"/>
            <a:ext cx="5849121" cy="140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46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9934533-24B8-9BA6-7B3F-BB616A263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B3ABC2B-F7BD-C440-2472-F859F6DAF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Column Deletion</a:t>
            </a:r>
            <a:endParaRPr lang="en-US" b="1" dirty="0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967099E8-8EBB-7003-7DE3-E5A6511DC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40203"/>
            <a:ext cx="8520600" cy="40301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Definition:</a:t>
            </a:r>
            <a:r>
              <a:rPr lang="en" dirty="0"/>
              <a:t> </a:t>
            </a:r>
            <a:r>
              <a:rPr lang="en-GB" dirty="0"/>
              <a:t>Remove all columns that contain missing values.</a:t>
            </a:r>
            <a:endParaRPr lang="en" dirty="0"/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80452F7A-6049-7BA7-CA4F-B92F5B7B5D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5EC439-A530-B3F7-11D3-03A64C62EF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86" t="578" r="123" b="578"/>
          <a:stretch>
            <a:fillRect/>
          </a:stretch>
        </p:blipFill>
        <p:spPr>
          <a:xfrm>
            <a:off x="2407784" y="1990725"/>
            <a:ext cx="5962374" cy="139071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31FF35-21C4-14B0-5400-9103A0096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7104" y="3570515"/>
            <a:ext cx="6256564" cy="130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2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F3C6018-ACF4-CF70-E4F8-D4CFE12C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10994487-C129-D117-DBE7-2559389C7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Mean </a:t>
            </a:r>
            <a:r>
              <a:rPr lang="en" b="1"/>
              <a:t>Imputation</a:t>
            </a:r>
            <a:endParaRPr lang="en" b="1" dirty="0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5C7C1C08-C925-E46D-C1A3-64D5CF468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32039"/>
            <a:ext cx="8520600" cy="4038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Replace missing numeric values with the mean of the column.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8893F912-5D08-A0CE-CFBA-C29A04B1EA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2D33EF-ADA9-B463-79DE-C9961B009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2072" y="1929493"/>
            <a:ext cx="5753100" cy="127635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0653B1-8FED-A3CB-4F98-3809250CF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1390" y="3324225"/>
            <a:ext cx="5754463" cy="164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6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57B8C31-4EA2-6AF8-F96D-9F17AB7B0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EFE6FE52-F1D5-8FEC-68A5-E2819C099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Median Imputation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81A27187-69D6-B7A1-537B-61D8DBC35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15710"/>
            <a:ext cx="8520600" cy="4054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/>
              <a:t> </a:t>
            </a:r>
            <a:r>
              <a:rPr lang="en">
                <a:ea typeface="+mn-lt"/>
                <a:cs typeface="+mn-lt"/>
              </a:rPr>
              <a:t>Replace missing numeric values with the median of the column.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A836371C-A9F8-3D8D-F6AA-F96176A742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A35D06-6A9B-314E-AF3C-E20786839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651" y="1901599"/>
            <a:ext cx="6448426" cy="1307647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25E477-3EBD-8414-1B06-ECCDE035D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8732" y="3341234"/>
            <a:ext cx="6219826" cy="162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1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CB98B21-9DC5-61A6-42C3-B9FC205A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FF2FB23F-6577-7477-2C54-EDE2C2E6C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Mode Imputation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0761B68E-4BC3-945D-CC2B-F15232AE7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01512"/>
            <a:ext cx="8488251" cy="3968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/>
              <a:t> </a:t>
            </a:r>
            <a:r>
              <a:rPr lang="en">
                <a:ea typeface="+mn-lt"/>
                <a:cs typeface="+mn-lt"/>
              </a:rPr>
              <a:t>Replace missing categorical values with the most frequent value.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96B8BA74-2ECB-0265-014C-A741E82687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76CFF5-935F-EA1D-6F6D-1E3D25E35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411" y="2126591"/>
            <a:ext cx="5800725" cy="1224592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E0B56C-D17F-B73B-7578-78B35FAE5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2174" y="3604763"/>
            <a:ext cx="5791200" cy="13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82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E2AC93F-A5B2-FD4B-C6D9-4F87FBBC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F78F132B-CC71-0DF4-C0A5-1600DBECA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KNN Imputation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4E64BCBE-AFAD-C668-A7F9-1AB286041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58380"/>
            <a:ext cx="8488251" cy="40119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Impute missing values based on the values of k nearest neighbors.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AD49A71A-E7CF-548A-35B4-A78B1CB6D2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01344E-2077-56B9-1C49-D03FA3750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628" y="2000250"/>
            <a:ext cx="3352800" cy="1132218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AFB7E2-BE31-19D4-EC2B-77DD6B28C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1866" y="3512928"/>
            <a:ext cx="3351542" cy="125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83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CA730E34-B45A-7809-8F45-7115D67A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9E5478F4-9710-2DB0-ED06-6DC89AB229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Duplicate Removal</a:t>
            </a:r>
            <a:endParaRPr lang="en-US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8E7EC0B3-E46A-37BC-73E4-D90BFB462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2295"/>
            <a:ext cx="8488251" cy="39472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Remove rows that are exact duplicates.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BDF9348D-B30F-479B-3DC5-878F833F1E9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BD43CE-814E-F7F0-53CC-31445D4AD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734" y="1956220"/>
            <a:ext cx="5799467" cy="122027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CCADF0-0865-BE82-196D-6F3E8DF04C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7476" y="3443288"/>
            <a:ext cx="5791200" cy="150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69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9A080D8-4174-9C12-C014-5ACD8E69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50061BC6-8598-2293-DBB7-129F7D02AF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Inconsistent Data Correction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54EC925B-F987-F51C-C599-62526F4B9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Standardize inconsistent values (e.g., US to USA, lowercase text, strip spaces). </a:t>
            </a:r>
            <a:endParaRPr lang="en" dirty="0"/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  <a:r>
              <a:rPr lang="en"/>
              <a:t>v</a:t>
            </a:r>
            <a:endParaRPr lang="en" dirty="0"/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81910847-9355-C0D3-ACE2-D66D1DD298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1C2014-BFC8-ED41-02FF-8C99D7E2A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03" y="1798878"/>
            <a:ext cx="61150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97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FC1F5F0-C17A-2D9C-DA24-A03F043FB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6D7269B-565E-B0E0-1370-5183E6FFC4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Outlier Removal (IQR)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15F05256-4F14-3FDA-7C61-382D4EE7F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Remove rows outside 1.5×IQR above Q3 or below Q1.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9D68999C-9A7B-E6EE-E0F3-C059D86831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8757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F6CC35DF-89BE-73AE-302C-7A90B48E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2DD2DAE3-2AF7-DDFD-45DC-290D77C3DA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Outlier Removal (Z-score)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C7BF62E7-FFF0-F8AA-0DAB-067B15EF2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/>
              <a:t> </a:t>
            </a:r>
            <a:r>
              <a:rPr lang="en">
                <a:ea typeface="+mn-lt"/>
                <a:cs typeface="+mn-lt"/>
              </a:rPr>
              <a:t>Remove rows where z-score exceeds 3 (standard deviations from mean).</a:t>
            </a:r>
            <a:endParaRPr lang="en" dirty="0"/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6C6B7E36-970F-1F6D-26F1-C6E6562AF3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154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EEDE2DE-C0C0-1E0C-5586-091C7F8D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823A78B8-014F-5398-2763-CC5DEE6AD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>
                <a:ea typeface="+mj-lt"/>
                <a:cs typeface="+mj-lt"/>
              </a:rPr>
              <a:t>Min-Max </a:t>
            </a:r>
            <a:r>
              <a:rPr lang="en" b="1" dirty="0" err="1">
                <a:ea typeface="+mj-lt"/>
                <a:cs typeface="+mj-lt"/>
              </a:rPr>
              <a:t>Normalisation</a:t>
            </a:r>
            <a:endParaRPr lang="en" b="1" dirty="0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8DB21AC9-28FE-885D-FC22-F2E37BA8C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/>
              <a:t> </a:t>
            </a:r>
            <a:r>
              <a:rPr lang="en">
                <a:ea typeface="+mn-lt"/>
                <a:cs typeface="+mn-lt"/>
              </a:rPr>
              <a:t>Scale numeric features to [0,1] range.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3301486F-9E8C-EE9A-4745-2C952A22F5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382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A752C8F-8572-5837-B3A5-1346357E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24366B01-FF76-23A9-F5CF-58A1256CD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>
                <a:ea typeface="+mj-lt"/>
                <a:cs typeface="+mj-lt"/>
              </a:rPr>
              <a:t>Z-score </a:t>
            </a:r>
            <a:r>
              <a:rPr lang="en" b="1" dirty="0" err="1">
                <a:ea typeface="+mj-lt"/>
                <a:cs typeface="+mj-lt"/>
              </a:rPr>
              <a:t>Standardisation</a:t>
            </a:r>
            <a:endParaRPr lang="en-US" b="1" dirty="0" err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2B788776-D11D-1C6E-1E0F-89D82FF7F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Scale numeric features to mean=0, std=1.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78ED0AEF-70FB-564E-4E83-416380CE7F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67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81FEBD4-046D-BFF2-6A38-1E7867BF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0A59B3F9-CB6C-5DF2-B83C-6BA4C10AD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Log Transformation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20FEC5DF-5461-49F3-5437-01496A0B2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Apply log(x+1) to reduce skew in numeric features.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4A8537E9-E218-A000-6BC3-23207B89DA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157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E62631F-E007-C127-8439-656971ACE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5B941CBD-705C-2DAC-BE31-E9A260ADB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Power Transformation (Yeo-Johnson)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9983772D-EBD6-47C7-0444-1A2022CF3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Definition:</a:t>
            </a:r>
            <a:r>
              <a:rPr lang="en" dirty="0"/>
              <a:t> </a:t>
            </a:r>
            <a:r>
              <a:rPr lang="en" dirty="0">
                <a:ea typeface="+mn-lt"/>
                <a:cs typeface="+mn-lt"/>
              </a:rPr>
              <a:t>Transform numeric features to approximate </a:t>
            </a:r>
            <a:r>
              <a:rPr lang="en">
                <a:ea typeface="+mn-lt"/>
                <a:cs typeface="+mn-lt"/>
              </a:rPr>
              <a:t>normality, and handle</a:t>
            </a:r>
            <a:r>
              <a:rPr lang="en" dirty="0">
                <a:ea typeface="+mn-lt"/>
                <a:cs typeface="+mn-lt"/>
              </a:rPr>
              <a:t> zeros and negatives.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2E614111-B986-044C-3AAA-A4F77229D6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9125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51DD0F2-3376-E00E-E7AA-29B41642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CC97CA32-333A-B5CB-23C6-D78A7326B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Label Encoding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7B5EECC5-5043-42E5-DECC-7C2F15F60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Convert categorical values into integer codes.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DA6BDBF5-5AC5-C4B1-0206-8CD8B4FC07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925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89F6A35-6BE3-680A-6C78-18E3D364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CBFCE955-A0DA-F5E8-D6E9-2D9B116AE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One-Hot Encoding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485C5BEE-817D-9C32-519E-BFC99946E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/>
              <a:t> </a:t>
            </a:r>
            <a:r>
              <a:rPr lang="en">
                <a:ea typeface="+mn-lt"/>
                <a:cs typeface="+mn-lt"/>
              </a:rPr>
              <a:t>Convert categorical variables into binary indicator columns.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3C367FB8-2F42-3248-399C-BBB45009D3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0395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699ED4B-4F34-88C3-4866-B7C60AD3F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C5413F3B-5F3C-F1D9-AD2D-2EAD5A315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Target Encoding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D313796B-E4B4-DFED-95F9-959600CC0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Encode categorical variables using the mean of the target variable for each category.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EF21D287-9AC5-EBB1-E8AF-F8808F5A9B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5516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24757D6-C351-3776-53AB-EB5C7513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5586E390-8C10-8FED-7FCB-6CB87EA3B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Feature Engineering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0015C38F-85B6-EA4E-B437-80C8E5A0B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Definition:</a:t>
            </a:r>
            <a:r>
              <a:rPr lang="en" dirty="0"/>
              <a:t> </a:t>
            </a:r>
            <a:r>
              <a:rPr lang="en" dirty="0">
                <a:ea typeface="+mn-lt"/>
                <a:cs typeface="+mn-lt"/>
              </a:rPr>
              <a:t>Create new features from existing ones (e.g., total funding rounds, funding per round, </a:t>
            </a:r>
            <a:r>
              <a:rPr lang="en" dirty="0" err="1">
                <a:ea typeface="+mn-lt"/>
                <a:cs typeface="+mn-lt"/>
              </a:rPr>
              <a:t>has_equity</a:t>
            </a:r>
            <a:r>
              <a:rPr lang="en" dirty="0">
                <a:ea typeface="+mn-lt"/>
                <a:cs typeface="+mn-lt"/>
              </a:rPr>
              <a:t>).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5EEE5DC4-FB66-979A-1D5C-EE04ED65E28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009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8D318DDC-6285-0D20-57A6-60171F14F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8712EF0F-8860-E4BF-AAB3-39971ABE2B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Correlation-Based Feature Selection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5E9E128F-DA67-19E4-91FA-B64D1711D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Remove features that are highly correlated with others (|r| &gt; 0.90). 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B2F83D04-4BBD-BC3D-6283-7AA8186783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4092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E16A000-56E0-1CC9-A1FC-7E96CB20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6C6AA496-963F-3810-C6DC-0DC194CB6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Chi-Square Feature Selection (top 10)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4C2192FE-D4B6-2666-EF31-7EABA1A1F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Select top-k features most statistically associated with the target using the Chi-square test.</a:t>
            </a:r>
          </a:p>
          <a:p>
            <a:pPr lvl="0"/>
            <a:r>
              <a:rPr lang="en" dirty="0"/>
              <a:t>Effect : </a:t>
            </a:r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53084B73-B964-FFD5-41C8-E3BD1027F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639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5F14D87-4FB5-E5FF-11C6-67FA78851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3FE1F88A-523A-19E4-04F2-D3F3C11FF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RFE Feature Selection (top 8)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1C837AFC-C7C5-1B89-5648-93CB95AF8E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Definition:</a:t>
            </a:r>
            <a:r>
              <a:rPr lang="en" dirty="0"/>
              <a:t> </a:t>
            </a:r>
            <a:r>
              <a:rPr lang="en" dirty="0">
                <a:ea typeface="+mn-lt"/>
                <a:cs typeface="+mn-lt"/>
              </a:rPr>
              <a:t>Iteratively remove least important features until a desired number of features remain. </a:t>
            </a:r>
            <a:endParaRPr lang="en-US" dirty="0">
              <a:ea typeface="+mn-lt"/>
              <a:cs typeface="+mn-lt"/>
            </a:endParaRPr>
          </a:p>
          <a:p>
            <a:r>
              <a:rPr lang="en" dirty="0"/>
              <a:t>Effect : </a:t>
            </a:r>
            <a:endParaRPr lang="en-US" dirty="0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2A01358E-104A-88BA-716D-F3A7C4EBF5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8557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37B7404-24D1-4E79-FCE2-FAEB038E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8699DCA2-EF46-E799-A2C9-CA74C58FF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PCA (n=5, var=0.37)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23F1856E-A19E-FEF8-AA25-8081BF276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Definition:</a:t>
            </a:r>
            <a:r>
              <a:rPr lang="en" dirty="0"/>
              <a:t> </a:t>
            </a:r>
            <a:r>
              <a:rPr lang="en" dirty="0">
                <a:ea typeface="+mn-lt"/>
                <a:cs typeface="+mn-lt"/>
              </a:rPr>
              <a:t>Transform original features into </a:t>
            </a:r>
            <a:r>
              <a:rPr lang="en">
                <a:ea typeface="+mn-lt"/>
                <a:cs typeface="+mn-lt"/>
              </a:rPr>
              <a:t>uncorrelated principal components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1C886649-0EAA-E1BD-4B0F-B28E1395DB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749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F8F4267-FE7E-603C-1CF5-24ECE4A8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2BE52458-13EB-3719-40CF-7093B4B6B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PCA (n=10, var=0.57)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214E4715-5F6B-A1D7-9F0B-9458F6C33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/>
              <a:t>Definition:</a:t>
            </a:r>
            <a:r>
              <a:rPr lang="en" dirty="0"/>
              <a:t> </a:t>
            </a:r>
            <a:r>
              <a:rPr lang="en" dirty="0">
                <a:ea typeface="+mn-lt"/>
                <a:cs typeface="+mn-lt"/>
              </a:rPr>
              <a:t>Iteratively remove least important features until a desired number of features remain. </a:t>
            </a:r>
            <a:endParaRPr lang="en-US" dirty="0">
              <a:ea typeface="+mn-lt"/>
              <a:cs typeface="+mn-lt"/>
            </a:endParaRPr>
          </a:p>
          <a:p>
            <a:r>
              <a:rPr lang="en" dirty="0"/>
              <a:t>Effect : </a:t>
            </a:r>
            <a:endParaRPr lang="en-US" dirty="0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30B7C67D-4DE2-3ED0-BCE5-6453840FE4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741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51D0E60-816B-407E-91A4-B2DC5DE5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F81394BB-8E7D-AD2D-34FE-A22D9594F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PCA (n=15, var=0.76)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6B9DFB64-96DD-76E4-3582-F279690D7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Transform original features into uncorrelated principal components.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D43BB87B-0A70-137A-9A11-92F3CCF3EC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9793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61D30E9-2FD4-7670-47CB-732F186FB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603552A6-3783-5DB9-3B1A-36029A1E6E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PCA (n=15, var=0.76)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DA80CA95-A709-F38E-0B47-5291EFB72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Transform original features into uncorrelated principal components.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BF1BB8F1-3B33-8A0F-091E-1840593D1B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4868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81D8F24-9638-EEC8-CB22-035F854D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8C586BC5-A844-136E-A2B1-88E898654F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PCA (n=15, var=0.76)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09D08F28-3278-D43E-724A-DEB0518C2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Transform original features into uncorrelated principal components.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7502DEBA-1E6C-9F6C-0070-0CE0CF3BA8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5815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C861E95-41A3-A914-38D9-CE5B2100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16C26F78-12D5-785E-1B06-184C17F25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PCA (n=15, var=0.76)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C03654DC-D4A4-1AAD-F734-2637293DD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Transform original features into uncorrelated principal components.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E26C875A-F28D-1F37-56CA-A44D289859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396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7F64275-23B4-C9C6-8FCD-7021FEB7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537E32F4-3DCE-544A-926C-72FAD5675D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Random Sampling (frac=0.25)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5AEE42CA-23A2-688B-7D25-0520CB978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Randomly select a fraction of rows from the dataset to create a smaller subset.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BF4B0995-D54D-A7F4-5664-AFBBDD657C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55033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548C675-9D04-C7AB-D9D8-79AC6B82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C2052E7D-35FD-8FB5-7D62-82FE3E4032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Random Sampling (frac=0.5)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5496D227-767C-3368-CE0D-97461869A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Randomly select a fraction of rows from the dataset to create a smaller subset.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EA0CF762-61B3-FA7D-4E58-F493C6D631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2658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1D3EF78-FA80-3299-7873-4D70C019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07240722-25BD-A9E4-B71F-3025AFB5AB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Random Sampling (frac=0.75)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76CD6C68-A520-5D9B-8CF3-3C2CA81AC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Randomly select a fraction of rows from the dataset to create a smaller subset.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DFBED3E6-2813-09F9-0E61-FA4138E427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96307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2CB6FA4-A58E-4C2E-B652-3E12741F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5EAEDB4F-BB04-FA09-662B-4FF674C34D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Stratified Sampling (50%)</a:t>
            </a:r>
            <a:endParaRPr lang="en-US" b="1"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B64BF01D-11B5-6D68-3307-0BEB88C17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Randomly select a fraction of rows while preserving the distribution of target variable.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57010391-B36B-A4BF-B170-200AD5550E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259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A6603C9-A60F-674A-65D0-97D9085C7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D83D521B-3023-3F80-5221-A5343B16F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SMOTE Oversampling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42DCBB84-6222-231D-0812-E238335AB3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Generate synthetic samples for minority classes to balance class distributions.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7D4C5D1E-F06A-31B5-AC8D-524D0C9232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6437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D376D71-EB17-24D2-DF12-A84132BF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299011F-3E4B-5D06-0513-137B4C972C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>
                <a:ea typeface="+mj-lt"/>
                <a:cs typeface="+mj-lt"/>
              </a:rPr>
              <a:t>Random Undersampling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ABBB1DB-C9BA-32E9-F645-DE7923B51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Generate synthetic samples for minority classes to balance class distributions.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ABED9CC9-6D2F-DCD5-9144-362AB68F10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73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0935802C-C678-2909-802C-438FFBEB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F80683CC-DD35-DB2A-7EA2-53343F830E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 dirty="0" err="1">
                <a:ea typeface="+mj-lt"/>
                <a:cs typeface="+mj-lt"/>
              </a:rPr>
              <a:t>Discretisation</a:t>
            </a:r>
            <a:r>
              <a:rPr lang="en" b="1" dirty="0">
                <a:ea typeface="+mj-lt"/>
                <a:cs typeface="+mj-lt"/>
              </a:rPr>
              <a:t> (Binning)</a:t>
            </a:r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B173F397-A9B9-693C-E9A8-C7444DFB6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17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" b="1"/>
              <a:t>Definition:</a:t>
            </a:r>
            <a:r>
              <a:rPr lang="en" dirty="0"/>
              <a:t> </a:t>
            </a:r>
            <a:r>
              <a:rPr lang="en">
                <a:ea typeface="+mn-lt"/>
                <a:cs typeface="+mn-lt"/>
              </a:rPr>
              <a:t>Generate synthetic samples for minority classes to balance class distributions.</a:t>
            </a:r>
            <a:endParaRPr lang="en-US">
              <a:ea typeface="+mn-lt"/>
              <a:cs typeface="+mn-lt"/>
            </a:endParaRPr>
          </a:p>
          <a:p>
            <a:r>
              <a:rPr lang="en">
                <a:ea typeface="+mn-lt"/>
                <a:cs typeface="+mn-lt"/>
              </a:rPr>
              <a:t>Effect</a:t>
            </a:r>
            <a:r>
              <a:rPr lang="en"/>
              <a:t> : </a:t>
            </a:r>
            <a:endParaRPr lang="en-US"/>
          </a:p>
          <a:p>
            <a:pPr lvl="1"/>
            <a:r>
              <a:rPr lang="en" dirty="0"/>
              <a:t>before </a:t>
            </a:r>
          </a:p>
          <a:p>
            <a:pPr lvl="0"/>
            <a:endParaRPr lang="en" dirty="0"/>
          </a:p>
          <a:p>
            <a:pPr lvl="0"/>
            <a:endParaRPr lang="en" dirty="0"/>
          </a:p>
          <a:p>
            <a:pPr lvl="1"/>
            <a:r>
              <a:rPr lang="en" dirty="0"/>
              <a:t>after</a:t>
            </a:r>
            <a:endParaRPr dirty="0"/>
          </a:p>
        </p:txBody>
      </p:sp>
      <p:pic>
        <p:nvPicPr>
          <p:cNvPr id="98" name="Google Shape;98;p19">
            <a:extLst>
              <a:ext uri="{FF2B5EF4-FFF2-40B4-BE49-F238E27FC236}">
                <a16:creationId xmlns:a16="http://schemas.microsoft.com/office/drawing/2014/main" id="{51F3BD98-850B-889D-F352-CC66C4F666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37484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Results: Effects of Different techniques</a:t>
            </a:r>
            <a:endParaRPr b="1" dirty="0"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E740CF-997A-46C7-C442-5F4AAE4A8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48184"/>
              </p:ext>
            </p:extLst>
          </p:nvPr>
        </p:nvGraphicFramePr>
        <p:xfrm>
          <a:off x="244300" y="886704"/>
          <a:ext cx="8520602" cy="3741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152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960305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980513932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1571011148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2211893615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672714296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526813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7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Row Deletion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0.4453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6139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Column Deletion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0.4323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0.1588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42260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Mean Imputation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0.4323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0.6992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783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Median Imputation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0.6992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6372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Mode Imputation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0.5153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0.8273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0.7050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89152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KNN Imputation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0.6992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68569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Duplicate Removal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0.6992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4600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Inconsistent Data Correction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0.4302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0.8422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0.5217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0.8365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0.1602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0.7008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9341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9A32E619-9D00-1E6A-9CC2-D8CD77190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>
            <a:extLst>
              <a:ext uri="{FF2B5EF4-FFF2-40B4-BE49-F238E27FC236}">
                <a16:creationId xmlns:a16="http://schemas.microsoft.com/office/drawing/2014/main" id="{2DA8E693-3C41-B979-7B7A-89D5F82603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Results: Effects of Different techniques</a:t>
            </a:r>
            <a:endParaRPr b="1" dirty="0"/>
          </a:p>
        </p:txBody>
      </p:sp>
      <p:pic>
        <p:nvPicPr>
          <p:cNvPr id="119" name="Google Shape;119;p22">
            <a:extLst>
              <a:ext uri="{FF2B5EF4-FFF2-40B4-BE49-F238E27FC236}">
                <a16:creationId xmlns:a16="http://schemas.microsoft.com/office/drawing/2014/main" id="{34809C20-F1B9-4F58-2061-AAD03D424E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565267-3FEC-2389-2D3F-C986EA968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883391"/>
              </p:ext>
            </p:extLst>
          </p:nvPr>
        </p:nvGraphicFramePr>
        <p:xfrm>
          <a:off x="308998" y="768091"/>
          <a:ext cx="8520601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151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960305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980513932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1571011148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2211893615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672714296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526813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7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Outlier Removal </a:t>
                      </a:r>
                      <a:r>
                        <a:rPr lang="en-US"/>
                        <a:t>(IQR)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0.4174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0.8529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0.6935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6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Outlier Removal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(Z-Score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0.4235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0.6882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3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Min-Max </a:t>
                      </a:r>
                      <a:r>
                        <a:rPr lang="en-US" dirty="0" err="1"/>
                        <a:t>Normalisation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0.4113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0.8390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0.8337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0.6952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9249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Z-Score </a:t>
                      </a:r>
                      <a:r>
                        <a:rPr lang="en-US" dirty="0" err="1"/>
                        <a:t>Standardisation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0.4322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0.5240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0.8245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0.1588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0.6989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9532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Log Transformation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0.4324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0.1588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0.6992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831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Power </a:t>
                      </a:r>
                      <a:r>
                        <a:rPr lang="en-US"/>
                        <a:t>Transformation (Yeo-Johnson)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0.4324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0.8252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0.1590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0.6993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3816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Label Encoding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0.4318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0.5219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0.8242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0.1584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0.6985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445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BD866442-2E80-B61E-F2D8-D36709E7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>
            <a:extLst>
              <a:ext uri="{FF2B5EF4-FFF2-40B4-BE49-F238E27FC236}">
                <a16:creationId xmlns:a16="http://schemas.microsoft.com/office/drawing/2014/main" id="{D51BA2C7-CC65-7F67-B6FE-4B85DCDCB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Results: Effects of Different techniques</a:t>
            </a:r>
            <a:endParaRPr b="1" dirty="0"/>
          </a:p>
        </p:txBody>
      </p:sp>
      <p:pic>
        <p:nvPicPr>
          <p:cNvPr id="119" name="Google Shape;119;p22">
            <a:extLst>
              <a:ext uri="{FF2B5EF4-FFF2-40B4-BE49-F238E27FC236}">
                <a16:creationId xmlns:a16="http://schemas.microsoft.com/office/drawing/2014/main" id="{6C04092B-627B-3729-9454-83D461B6A7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CE46CB-11E8-99E6-35DB-0EF37C218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537536"/>
              </p:ext>
            </p:extLst>
          </p:nvPr>
        </p:nvGraphicFramePr>
        <p:xfrm>
          <a:off x="308998" y="768091"/>
          <a:ext cx="8520601" cy="433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151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960305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980513932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1571011148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2211893615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672714296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526813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7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One-Hot Encoding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0.5145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0.7681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0.1598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0.7054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6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Frequency</a:t>
                      </a:r>
                      <a:r>
                        <a:rPr lang="en-US" dirty="0"/>
                        <a:t> Encoding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0.4417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0.5330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0.1597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0.7003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335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Target Encoding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0.4873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0.5776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0.8149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0.1624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0.7142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9249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Data Feature Extraction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0.6049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0.8639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0.6811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0.8533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0.8019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9532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Feature Engineering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0.4340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0.5277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0.8068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0.1599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0.6953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88317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Correlation Based Feature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0.4327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0.8387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0.5247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0.8246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0.1592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0.6990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93816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Chi-Square Feature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0.3982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0.4873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0.8606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0.1589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0.7015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0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28019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82D66C52-8400-9FAD-1266-C3140F77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>
            <a:extLst>
              <a:ext uri="{FF2B5EF4-FFF2-40B4-BE49-F238E27FC236}">
                <a16:creationId xmlns:a16="http://schemas.microsoft.com/office/drawing/2014/main" id="{22AEAB7F-8164-A712-6C54-549E90B3A1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Results: Effects of Different techniques</a:t>
            </a:r>
            <a:endParaRPr b="1" dirty="0"/>
          </a:p>
        </p:txBody>
      </p:sp>
      <p:pic>
        <p:nvPicPr>
          <p:cNvPr id="119" name="Google Shape;119;p22">
            <a:extLst>
              <a:ext uri="{FF2B5EF4-FFF2-40B4-BE49-F238E27FC236}">
                <a16:creationId xmlns:a16="http://schemas.microsoft.com/office/drawing/2014/main" id="{7D1109FA-7994-81F6-7FF5-4497955F17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486E72-AA92-869D-E99E-EF58EC961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496452"/>
              </p:ext>
            </p:extLst>
          </p:nvPr>
        </p:nvGraphicFramePr>
        <p:xfrm>
          <a:off x="308998" y="768091"/>
          <a:ext cx="8520601" cy="385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151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960305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980513932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1571011148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2211893615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672714296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526813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7347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RFE Feature Selection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0.4589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0.8384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0.5507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0.8133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0.7013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526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PCA (n=5, var=0.37)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0.3517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0.8301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0.4349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0.8354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0.1562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0.6445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2482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PCA (n=10, 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var=0.57)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0.3742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0.8349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0.4603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0.8378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0.1573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0.6583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5681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PCA (n=15,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var=0.76)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0.3886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0.8281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0.4783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0.8139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0.1561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0.6493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88405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Random Sampling (frac=0.25)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0.4404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0.8363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0.5331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0.8112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0.1649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0.6721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3440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Random Sampling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(frac=0.5)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0.4120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0.8373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0.5041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0.8294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0.6682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019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162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E442146-1225-7A54-87E2-6D0BD13D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>
            <a:extLst>
              <a:ext uri="{FF2B5EF4-FFF2-40B4-BE49-F238E27FC236}">
                <a16:creationId xmlns:a16="http://schemas.microsoft.com/office/drawing/2014/main" id="{A94854DC-4DD4-C9C3-C18A-392F2E616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Results: Effects of Different techniques</a:t>
            </a:r>
            <a:endParaRPr b="1" dirty="0"/>
          </a:p>
        </p:txBody>
      </p:sp>
      <p:pic>
        <p:nvPicPr>
          <p:cNvPr id="119" name="Google Shape;119;p22">
            <a:extLst>
              <a:ext uri="{FF2B5EF4-FFF2-40B4-BE49-F238E27FC236}">
                <a16:creationId xmlns:a16="http://schemas.microsoft.com/office/drawing/2014/main" id="{57A5A516-0A3B-B5D8-7E32-9A2DFE8B95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0E50A9-C959-97AC-5B48-74C51FB32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448231"/>
              </p:ext>
            </p:extLst>
          </p:nvPr>
        </p:nvGraphicFramePr>
        <p:xfrm>
          <a:off x="308998" y="768091"/>
          <a:ext cx="8520601" cy="361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151">
                  <a:extLst>
                    <a:ext uri="{9D8B030D-6E8A-4147-A177-3AD203B41FA5}">
                      <a16:colId xmlns:a16="http://schemas.microsoft.com/office/drawing/2014/main" val="3282509403"/>
                    </a:ext>
                  </a:extLst>
                </a:gridCol>
                <a:gridCol w="960305">
                  <a:extLst>
                    <a:ext uri="{9D8B030D-6E8A-4147-A177-3AD203B41FA5}">
                      <a16:colId xmlns:a16="http://schemas.microsoft.com/office/drawing/2014/main" val="1917526809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980513932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1571011148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2211893615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672714296"/>
                    </a:ext>
                  </a:extLst>
                </a:gridCol>
                <a:gridCol w="1217229">
                  <a:extLst>
                    <a:ext uri="{9D8B030D-6E8A-4147-A177-3AD203B41FA5}">
                      <a16:colId xmlns:a16="http://schemas.microsoft.com/office/drawing/2014/main" val="3526813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Simplicity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27347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Random Sampling (frac=0.75)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0.8412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0.5076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0.8362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0.1578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0.6972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8526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>
                          <a:latin typeface="Aptos"/>
                        </a:rPr>
                        <a:t>Stratified sampling (50%)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0.4087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0.8391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0.4979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0.8357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0.1593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0.6823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2482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>
                          <a:latin typeface="Aptos"/>
                        </a:rPr>
                        <a:t>SMOTE oversampling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0.7238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0.8041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0.7572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0.4832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0.1553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0.6865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5681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Aptos"/>
                        </a:rPr>
                        <a:t>Random </a:t>
                      </a:r>
                      <a:r>
                        <a:rPr lang="en-US" sz="1350" b="0" i="0" u="none" strike="noStrike" noProof="0" dirty="0" err="1">
                          <a:latin typeface="Aptos"/>
                        </a:rPr>
                        <a:t>undersampling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0.4659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0.8268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0.5572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0.7728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0.1655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0.6630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88405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 err="1">
                          <a:latin typeface="Aptos"/>
                        </a:rPr>
                        <a:t>Discretisation</a:t>
                      </a:r>
                      <a:r>
                        <a:rPr lang="en-US" sz="1350" b="0" i="0" u="none" strike="noStrike" noProof="0" dirty="0">
                          <a:latin typeface="Aptos"/>
                        </a:rPr>
                        <a:t> (Binning)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0.4189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0.8412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0.5106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0.8378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0.6944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43440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>
                          <a:latin typeface="Aptos"/>
                        </a:rPr>
                        <a:t>Noise smoothing (Bin-Mean)</a:t>
                      </a:r>
                      <a:endParaRPr lang="en-US" sz="13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0.4478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0.8339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0.5386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0.8041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0.1585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0.7013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019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8401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805CE37B-1B57-D327-7ECF-9287FAA8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>
            <a:extLst>
              <a:ext uri="{FF2B5EF4-FFF2-40B4-BE49-F238E27FC236}">
                <a16:creationId xmlns:a16="http://schemas.microsoft.com/office/drawing/2014/main" id="{6692DBBE-0D70-4C5F-A78F-666B48933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Results: Effects of Different techniques</a:t>
            </a:r>
            <a:endParaRPr b="1" dirty="0"/>
          </a:p>
        </p:txBody>
      </p:sp>
      <p:sp>
        <p:nvSpPr>
          <p:cNvPr id="118" name="Google Shape;118;p22">
            <a:extLst>
              <a:ext uri="{FF2B5EF4-FFF2-40B4-BE49-F238E27FC236}">
                <a16:creationId xmlns:a16="http://schemas.microsoft.com/office/drawing/2014/main" id="{B5A71278-8055-48BE-FF28-CCB9B42CF3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2295"/>
            <a:ext cx="8520600" cy="39437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r>
              <a:rPr lang="en">
                <a:ea typeface="+mn-lt"/>
                <a:cs typeface="+mn-lt"/>
              </a:rPr>
              <a:t>Most techniques produced marginal or no improvement over the baseline (Accuracy = 0.4323, AUC = 0.6992)</a:t>
            </a:r>
            <a:endParaRPr lang="en-US"/>
          </a:p>
          <a:p>
            <a:r>
              <a:rPr lang="en">
                <a:ea typeface="+mn-lt"/>
                <a:cs typeface="+mn-lt"/>
              </a:rPr>
              <a:t>Feature-level techniques (encoding, extraction) and resampling methods showed the most notable gains</a:t>
            </a:r>
            <a:endParaRPr lang="en"/>
          </a:p>
          <a:p>
            <a:r>
              <a:rPr lang="en" dirty="0">
                <a:ea typeface="+mn-lt"/>
                <a:cs typeface="+mn-lt"/>
              </a:rPr>
              <a:t>Data cleaning, scaling, and PCA consistently </a:t>
            </a:r>
            <a:r>
              <a:rPr lang="en">
                <a:ea typeface="+mn-lt"/>
                <a:cs typeface="+mn-lt"/>
              </a:rPr>
              <a:t>underperformed, not</a:t>
            </a:r>
            <a:r>
              <a:rPr lang="en" dirty="0">
                <a:ea typeface="+mn-lt"/>
                <a:cs typeface="+mn-lt"/>
              </a:rPr>
              <a:t> critical issues in this dataset</a:t>
            </a:r>
            <a:endParaRPr lang="en" dirty="0"/>
          </a:p>
          <a:p>
            <a:r>
              <a:rPr lang="en">
                <a:ea typeface="+mn-lt"/>
                <a:cs typeface="+mn-lt"/>
              </a:rPr>
              <a:t>Feature-level interventions and data distribution techniques proved most impactful for improving model performance</a:t>
            </a:r>
            <a:endParaRPr lang="en"/>
          </a:p>
          <a:p>
            <a:endParaRPr lang="en" dirty="0"/>
          </a:p>
          <a:p>
            <a:endParaRPr lang="en" dirty="0">
              <a:ea typeface="+mn-lt"/>
              <a:cs typeface="+mn-lt"/>
            </a:endParaRPr>
          </a:p>
        </p:txBody>
      </p:sp>
      <p:pic>
        <p:nvPicPr>
          <p:cNvPr id="119" name="Google Shape;119;p22">
            <a:extLst>
              <a:ext uri="{FF2B5EF4-FFF2-40B4-BE49-F238E27FC236}">
                <a16:creationId xmlns:a16="http://schemas.microsoft.com/office/drawing/2014/main" id="{ADA085F2-BB6E-5F07-4516-0434928EAE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0923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Final Results </a:t>
            </a:r>
            <a:endParaRPr b="1" dirty="0"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285750" indent="-285750">
              <a:buFont typeface="Arial"/>
              <a:buChar char="●"/>
            </a:pPr>
            <a:r>
              <a:rPr lang="en">
                <a:ea typeface="+mn-lt"/>
                <a:cs typeface="+mn-lt"/>
              </a:rPr>
              <a:t>Results were obtained by applying each technique independently against the baseline (Accuracy = 0.4323, AUC = 0.6992)</a:t>
            </a:r>
            <a:endParaRPr lang="en-US"/>
          </a:p>
          <a:p>
            <a:pPr marL="285750" indent="-285750">
              <a:buFont typeface="Arial"/>
              <a:buChar char="●"/>
            </a:pPr>
            <a:r>
              <a:rPr lang="en">
                <a:ea typeface="+mn-lt"/>
                <a:cs typeface="+mn-lt"/>
              </a:rPr>
              <a:t>SMOTE achieved best overall performance: Accuracy: 0.7238, F1: 0.7572, followed by Data Feature Extraction (Accuracy: 0.6049, AUC: 0.8019)</a:t>
            </a:r>
            <a:endParaRPr lang="en"/>
          </a:p>
          <a:p>
            <a:pPr marL="285750" indent="-285750">
              <a:buFont typeface="Arial"/>
              <a:buChar char="●"/>
            </a:pPr>
            <a:r>
              <a:rPr lang="en">
                <a:ea typeface="+mn-lt"/>
                <a:cs typeface="+mn-lt"/>
              </a:rPr>
              <a:t>SMOTE succeeded by directly addressing class imbalance through synthetic minority sample generation</a:t>
            </a:r>
            <a:endParaRPr lang="en"/>
          </a:p>
          <a:p>
            <a:pPr marL="285750" indent="-285750">
              <a:buFont typeface="Arial"/>
              <a:buChar char="●"/>
            </a:pPr>
            <a:r>
              <a:rPr lang="en">
                <a:ea typeface="+mn-lt"/>
                <a:cs typeface="+mn-lt"/>
              </a:rPr>
              <a:t>Data Feature Extraction succeeded by creating more discriminative features, providing stronger learning signals</a:t>
            </a:r>
            <a:endParaRPr lang="en"/>
          </a:p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D5776B2B-E946-742E-8430-1EAD04B0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>
            <a:extLst>
              <a:ext uri="{FF2B5EF4-FFF2-40B4-BE49-F238E27FC236}">
                <a16:creationId xmlns:a16="http://schemas.microsoft.com/office/drawing/2014/main" id="{203988FD-5D19-9CB8-8C96-EF331A0F12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Final Results </a:t>
            </a:r>
            <a:endParaRPr b="1" dirty="0"/>
          </a:p>
        </p:txBody>
      </p:sp>
      <p:sp>
        <p:nvSpPr>
          <p:cNvPr id="132" name="Google Shape;132;p24">
            <a:extLst>
              <a:ext uri="{FF2B5EF4-FFF2-40B4-BE49-F238E27FC236}">
                <a16:creationId xmlns:a16="http://schemas.microsoft.com/office/drawing/2014/main" id="{DB319D63-C46A-E384-270B-63353B482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indent="-285750">
              <a:buFont typeface="Arial,Sans-Serif"/>
              <a:buChar char="●"/>
            </a:pPr>
            <a:r>
              <a:rPr lang="en" sz="2600" dirty="0">
                <a:ea typeface="+mn-lt"/>
                <a:cs typeface="+mn-lt"/>
              </a:rPr>
              <a:t>Most techniques failed to improve as data cleaning, scaling, and dimensionality reduction (PCA) either discarded useful information or addressed issues not critical to this dataset</a:t>
            </a:r>
            <a:endParaRPr lang="en" sz="2600" dirty="0"/>
          </a:p>
          <a:p>
            <a:pPr marL="285750" indent="-285750">
              <a:buFont typeface="Arial,Sans-Serif"/>
              <a:buChar char="●"/>
            </a:pPr>
            <a:r>
              <a:rPr lang="en" sz="2600">
                <a:ea typeface="+mn-lt"/>
                <a:cs typeface="+mn-lt"/>
              </a:rPr>
              <a:t>Notable trade-off: SMOTE improved Accuracy &amp; F1 but reduced Specificity (0.4832) due to increased sensitivity toward minority class</a:t>
            </a:r>
            <a:endParaRPr lang="en" sz="2600"/>
          </a:p>
          <a:p>
            <a:pPr marL="285750" indent="-285750">
              <a:buFont typeface="Arial,Sans-Serif"/>
              <a:buChar char="●"/>
            </a:pPr>
            <a:r>
              <a:rPr lang="en" sz="2600">
                <a:ea typeface="+mn-lt"/>
                <a:cs typeface="+mn-lt"/>
              </a:rPr>
              <a:t>SMOTE selected as the best technique for its superior classification performance and effective handling of class imbalance</a:t>
            </a:r>
            <a:endParaRPr lang="en" sz="2600"/>
          </a:p>
          <a:p>
            <a:pPr marL="0" indent="0">
              <a:buNone/>
            </a:pPr>
            <a:endParaRPr lang="en" dirty="0"/>
          </a:p>
        </p:txBody>
      </p:sp>
      <p:pic>
        <p:nvPicPr>
          <p:cNvPr id="133" name="Google Shape;133;p24">
            <a:extLst>
              <a:ext uri="{FF2B5EF4-FFF2-40B4-BE49-F238E27FC236}">
                <a16:creationId xmlns:a16="http://schemas.microsoft.com/office/drawing/2014/main" id="{AC778CA4-4019-8C07-CA12-2583391149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8488" y="0"/>
            <a:ext cx="765511" cy="7627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19961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2537525" y="1999050"/>
            <a:ext cx="5027400" cy="16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20" b="1" dirty="0"/>
              <a:t>THANK YOU &amp; questions please  </a:t>
            </a:r>
            <a:endParaRPr sz="382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</TotalTime>
  <Words>1727</Words>
  <Application>Microsoft Office PowerPoint</Application>
  <PresentationFormat>On-screen Show (16:9)</PresentationFormat>
  <Paragraphs>598</Paragraphs>
  <Slides>50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Arial,Sans-Serif</vt:lpstr>
      <vt:lpstr>Office Theme</vt:lpstr>
      <vt:lpstr>Startup Success Prediction</vt:lpstr>
      <vt:lpstr>Problem</vt:lpstr>
      <vt:lpstr>Dataset Title with website link </vt:lpstr>
      <vt:lpstr>Dataset Title with website link </vt:lpstr>
      <vt:lpstr>Reason of selection </vt:lpstr>
      <vt:lpstr>Exahustive List of Preprocessing techniques </vt:lpstr>
      <vt:lpstr>Exahustive List of Preprocessing techniques </vt:lpstr>
      <vt:lpstr>Row Deletion</vt:lpstr>
      <vt:lpstr>Column Deletion</vt:lpstr>
      <vt:lpstr>Mean Imputation</vt:lpstr>
      <vt:lpstr>Median Imputation</vt:lpstr>
      <vt:lpstr>Mode Imputation</vt:lpstr>
      <vt:lpstr>KNN Imputation</vt:lpstr>
      <vt:lpstr>Duplicate Removal</vt:lpstr>
      <vt:lpstr>Inconsistent Data Correction</vt:lpstr>
      <vt:lpstr>Outlier Removal (IQR)</vt:lpstr>
      <vt:lpstr>Outlier Removal (Z-score)</vt:lpstr>
      <vt:lpstr>Min-Max Normalisation</vt:lpstr>
      <vt:lpstr>Z-score Standardisation</vt:lpstr>
      <vt:lpstr>Log Transformation</vt:lpstr>
      <vt:lpstr>Power Transformation (Yeo-Johnson)</vt:lpstr>
      <vt:lpstr>Label Encoding</vt:lpstr>
      <vt:lpstr>One-Hot Encoding</vt:lpstr>
      <vt:lpstr>Target Encoding</vt:lpstr>
      <vt:lpstr>Feature Engineering</vt:lpstr>
      <vt:lpstr>Correlation-Based Feature Selection</vt:lpstr>
      <vt:lpstr>Chi-Square Feature Selection (top 10)</vt:lpstr>
      <vt:lpstr>RFE Feature Selection (top 8)</vt:lpstr>
      <vt:lpstr>PCA (n=5, var=0.37)</vt:lpstr>
      <vt:lpstr>PCA (n=10, var=0.57)</vt:lpstr>
      <vt:lpstr>PCA (n=15, var=0.76)</vt:lpstr>
      <vt:lpstr>PCA (n=15, var=0.76)</vt:lpstr>
      <vt:lpstr>PCA (n=15, var=0.76)</vt:lpstr>
      <vt:lpstr>PCA (n=15, var=0.76)</vt:lpstr>
      <vt:lpstr>Random Sampling (frac=0.25)</vt:lpstr>
      <vt:lpstr>Random Sampling (frac=0.5)</vt:lpstr>
      <vt:lpstr>Random Sampling (frac=0.75)</vt:lpstr>
      <vt:lpstr>Stratified Sampling (50%)</vt:lpstr>
      <vt:lpstr>SMOTE Oversampling</vt:lpstr>
      <vt:lpstr>Random Undersampling</vt:lpstr>
      <vt:lpstr>Discretisation (Binning)</vt:lpstr>
      <vt:lpstr>Results: Effects of Different techniques</vt:lpstr>
      <vt:lpstr>Results: Effects of Different techniques</vt:lpstr>
      <vt:lpstr>Results: Effects of Different techniques</vt:lpstr>
      <vt:lpstr>Results: Effects of Different techniques</vt:lpstr>
      <vt:lpstr>Results: Effects of Different techniques</vt:lpstr>
      <vt:lpstr>Results: Effects of Different techniques</vt:lpstr>
      <vt:lpstr>Final Results </vt:lpstr>
      <vt:lpstr>Final Results </vt:lpstr>
      <vt:lpstr>THANK YOU &amp; questions please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Mian Zain Allaudin</cp:lastModifiedBy>
  <cp:revision>627</cp:revision>
  <dcterms:modified xsi:type="dcterms:W3CDTF">2026-04-16T19:22:13Z</dcterms:modified>
</cp:coreProperties>
</file>